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Plus Jakarta Sans"/>
      <p:regular r:id="rId13"/>
      <p:bold r:id="rId14"/>
      <p:italic r:id="rId15"/>
      <p:boldItalic r:id="rId16"/>
    </p:embeddedFont>
    <p:embeddedFont>
      <p:font typeface="Space Grotesk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usJakarta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italic.fntdata"/><Relationship Id="rId14" Type="http://schemas.openxmlformats.org/officeDocument/2006/relationships/font" Target="fonts/PlusJakartaSans-bold.fntdata"/><Relationship Id="rId17" Type="http://schemas.openxmlformats.org/officeDocument/2006/relationships/font" Target="fonts/SpaceGrotesk-regular.fntdata"/><Relationship Id="rId16" Type="http://schemas.openxmlformats.org/officeDocument/2006/relationships/font" Target="fonts/PlusJakarta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SpaceGrotes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591175"/>
            <a:ext cx="109728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559117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638175"/>
            <a:ext cx="114300" cy="114300"/>
          </a:xfrm>
          <a:prstGeom prst="roundRect">
            <a:avLst>
              <a:gd fmla="val 25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58225" y="60864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8875" y="6086475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9858375" y="609600"/>
            <a:ext cx="21550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Academic Research Report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2239416"/>
            <a:ext cx="9101137" cy="11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Global Video Game Commercial Trends &amp; Regional Dynamics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3561308"/>
            <a:ext cx="7524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 evidence-based exploration of genre dominance, historical sales cycles, and global consumer preferences.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38200" y="609600"/>
            <a:ext cx="4941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110: DATA VISUALIZATION &amp; COMMUNICATION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09600" y="5867400"/>
            <a:ext cx="150018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AUTHOR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09600" y="6048375"/>
            <a:ext cx="1500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Christian Tabuku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886825" y="607695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16,500+ Titles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0315575" y="6076950"/>
            <a:ext cx="15835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 Decades Analyzed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609600" y="2959298"/>
            <a:ext cx="3505200" cy="205740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343400" y="2852142"/>
            <a:ext cx="3505200" cy="2271712"/>
          </a:xfrm>
          <a:prstGeom prst="roundRect">
            <a:avLst>
              <a:gd fmla="val 670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8077200" y="2959298"/>
            <a:ext cx="3505200" cy="205740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3117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625" y="320456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3425" y="33117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700" y="344507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8687" y="333791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344507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FRAMEWORK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Research Scope &amp; Core Questions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09600" y="107052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analytical pillars driving the global industry breakdown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85825" y="3921323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16,500+ Title Scope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85825" y="4235648"/>
            <a:ext cx="304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Historical sales tracking global game performance from 1980 to 2020.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619625" y="3814167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Genre Heavyweights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4619625" y="4128492"/>
            <a:ext cx="30480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Identifying long-term commercial leadership across major gaming categories.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353425" y="3921323"/>
            <a:ext cx="3838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Regional Divergence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353425" y="4235648"/>
            <a:ext cx="304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Comparing purchasing habits across North America, Europe, and Japan.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/>
          <p:nvPr/>
        </p:nvSpPr>
        <p:spPr>
          <a:xfrm>
            <a:off x="2952750" y="2644973"/>
            <a:ext cx="7715250" cy="400050"/>
          </a:xfrm>
          <a:prstGeom prst="roundRect">
            <a:avLst>
              <a:gd fmla="val 1904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2952750" y="3216473"/>
            <a:ext cx="7715250" cy="400050"/>
          </a:xfrm>
          <a:prstGeom prst="roundRect">
            <a:avLst>
              <a:gd fmla="val 1904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2952750" y="3787973"/>
            <a:ext cx="7715250" cy="400050"/>
          </a:xfrm>
          <a:prstGeom prst="roundRect">
            <a:avLst>
              <a:gd fmla="val 1904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2952750" y="4359473"/>
            <a:ext cx="7715250" cy="400050"/>
          </a:xfrm>
          <a:prstGeom prst="roundRect">
            <a:avLst>
              <a:gd fmla="val 1904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2952750" y="4930973"/>
            <a:ext cx="7715250" cy="400050"/>
          </a:xfrm>
          <a:prstGeom prst="roundRect">
            <a:avLst>
              <a:gd fmla="val 1904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2990850" y="2683073"/>
            <a:ext cx="7639050" cy="323850"/>
          </a:xfrm>
          <a:prstGeom prst="roundRect">
            <a:avLst>
              <a:gd fmla="val 17647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2990850" y="3254573"/>
            <a:ext cx="5805636" cy="323850"/>
          </a:xfrm>
          <a:prstGeom prst="roundRect">
            <a:avLst>
              <a:gd fmla="val 17647" name="adj"/>
            </a:avLst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2990850" y="3826073"/>
            <a:ext cx="4491632" cy="323850"/>
          </a:xfrm>
          <a:prstGeom prst="roundRect">
            <a:avLst>
              <a:gd fmla="val 1764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2990850" y="4397573"/>
            <a:ext cx="4056310" cy="323850"/>
          </a:xfrm>
          <a:prstGeom prst="roundRect">
            <a:avLst>
              <a:gd fmla="val 17647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2990850" y="4969073"/>
            <a:ext cx="3620839" cy="323850"/>
          </a:xfrm>
          <a:prstGeom prst="roundRect">
            <a:avLst>
              <a:gd fmla="val 17647" name="adj"/>
            </a:avLst>
          </a:prstGeom>
          <a:solidFill>
            <a:srgbClr val="7DD3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VISUALIZATION 01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Action &amp; Sports Lead Global Sales Volume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09600" y="107052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cumulative units sold across top 5 categories worldwide (in millions)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214437" y="2744985"/>
            <a:ext cx="1547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Action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214437" y="3316485"/>
            <a:ext cx="1547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Sports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214437" y="3887985"/>
            <a:ext cx="1547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Shooter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214437" y="4459485"/>
            <a:ext cx="1547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Role-Playing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214437" y="5030985"/>
            <a:ext cx="1547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Platform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2990850" y="2683073"/>
            <a:ext cx="7581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1,750M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2990850" y="3254573"/>
            <a:ext cx="57484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1,330M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2990850" y="3826073"/>
            <a:ext cx="4434482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1,030M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2990850" y="4397573"/>
            <a:ext cx="39991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930M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2990850" y="4969073"/>
            <a:ext cx="35636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830M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4895850" y="2368748"/>
            <a:ext cx="1857375" cy="333375"/>
          </a:xfrm>
          <a:prstGeom prst="roundRect">
            <a:avLst>
              <a:gd fmla="val 50000" name="adj"/>
            </a:avLst>
          </a:prstGeom>
          <a:solidFill>
            <a:srgbClr val="FFE4E6"/>
          </a:solidFill>
          <a:ln cap="flat" cmpd="sng" w="9525">
            <a:solidFill>
              <a:srgbClr val="FDA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1" name="Google Shape;1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463998"/>
            <a:ext cx="109728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VISUALIZATION 02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678M Unit Peak During the 2008 Console Era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09600" y="107052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Global sales surge driven by widespread adoption of Wii, PS3, and Xbox 360 hardware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5029200" y="2425898"/>
            <a:ext cx="16859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E12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2008 Peak (678M Units)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00100" y="5854898"/>
            <a:ext cx="590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1980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3357562" y="5854898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1995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5895975" y="5854898"/>
            <a:ext cx="638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E12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2008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501062" y="5854898"/>
            <a:ext cx="5810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2012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11049000" y="5854898"/>
            <a:ext cx="628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/>
          <p:nvPr/>
        </p:nvSpPr>
        <p:spPr>
          <a:xfrm>
            <a:off x="3657600" y="2016325"/>
            <a:ext cx="7875000" cy="3162300"/>
          </a:xfrm>
          <a:prstGeom prst="roundRect">
            <a:avLst>
              <a:gd fmla="val 36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609600" y="2406848"/>
            <a:ext cx="3048000" cy="935235"/>
          </a:xfrm>
          <a:prstGeom prst="roundRect">
            <a:avLst>
              <a:gd fmla="val 1222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609600" y="3520380"/>
            <a:ext cx="3048000" cy="935235"/>
          </a:xfrm>
          <a:prstGeom prst="roundRect">
            <a:avLst>
              <a:gd fmla="val 1222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609600" y="4633912"/>
            <a:ext cx="3048000" cy="935235"/>
          </a:xfrm>
          <a:prstGeom prst="roundRect">
            <a:avLst>
              <a:gd fmla="val 1222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609600" y="2406848"/>
            <a:ext cx="38100" cy="93523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609600" y="3520380"/>
            <a:ext cx="38100" cy="93523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609600" y="4633912"/>
            <a:ext cx="38100" cy="93523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8782050" y="2664023"/>
            <a:ext cx="114300" cy="114300"/>
          </a:xfrm>
          <a:prstGeom prst="roundRect">
            <a:avLst>
              <a:gd fmla="val 16666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10010775" y="2664023"/>
            <a:ext cx="114300" cy="114300"/>
          </a:xfrm>
          <a:prstGeom prst="roundRect">
            <a:avLst>
              <a:gd fmla="val 16666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10810875" y="2664023"/>
            <a:ext cx="114300" cy="114300"/>
          </a:xfrm>
          <a:prstGeom prst="roundRect">
            <a:avLst>
              <a:gd fmla="val 16666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4551015" y="3330773"/>
            <a:ext cx="209550" cy="1714500"/>
          </a:xfrm>
          <a:prstGeom prst="roundRect">
            <a:avLst>
              <a:gd fmla="val 13636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4798665" y="3997523"/>
            <a:ext cx="209550" cy="1047750"/>
          </a:xfrm>
          <a:prstGeom prst="roundRect">
            <a:avLst>
              <a:gd fmla="val 13636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5046315" y="4711898"/>
            <a:ext cx="209550" cy="333375"/>
          </a:xfrm>
          <a:prstGeom prst="roundRect">
            <a:avLst>
              <a:gd fmla="val 13636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5956845" y="4140398"/>
            <a:ext cx="209550" cy="904875"/>
          </a:xfrm>
          <a:prstGeom prst="roundRect">
            <a:avLst>
              <a:gd fmla="val 13636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6204495" y="4616648"/>
            <a:ext cx="209550" cy="428625"/>
          </a:xfrm>
          <a:prstGeom prst="roundRect">
            <a:avLst>
              <a:gd fmla="val 13636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6452145" y="4759523"/>
            <a:ext cx="209550" cy="285750"/>
          </a:xfrm>
          <a:prstGeom prst="roundRect">
            <a:avLst>
              <a:gd fmla="val 13636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7419826" y="4378523"/>
            <a:ext cx="209550" cy="666750"/>
          </a:xfrm>
          <a:prstGeom prst="roundRect">
            <a:avLst>
              <a:gd fmla="val 13636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7667476" y="4645223"/>
            <a:ext cx="209550" cy="400050"/>
          </a:xfrm>
          <a:prstGeom prst="roundRect">
            <a:avLst>
              <a:gd fmla="val 13636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7915126" y="4302323"/>
            <a:ext cx="209550" cy="742950"/>
          </a:xfrm>
          <a:prstGeom prst="roundRect">
            <a:avLst>
              <a:gd fmla="val 13636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8882806" y="3854648"/>
            <a:ext cx="209550" cy="1190625"/>
          </a:xfrm>
          <a:prstGeom prst="roundRect">
            <a:avLst>
              <a:gd fmla="val 13636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9130456" y="4397573"/>
            <a:ext cx="209550" cy="647700"/>
          </a:xfrm>
          <a:prstGeom prst="roundRect">
            <a:avLst>
              <a:gd fmla="val 13636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9378106" y="4950023"/>
            <a:ext cx="209550" cy="95250"/>
          </a:xfrm>
          <a:prstGeom prst="roundRect">
            <a:avLst>
              <a:gd fmla="val 3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10288637" y="3664148"/>
            <a:ext cx="209550" cy="1381125"/>
          </a:xfrm>
          <a:prstGeom prst="roundRect">
            <a:avLst>
              <a:gd fmla="val 13636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10536287" y="4283273"/>
            <a:ext cx="209700" cy="762000"/>
          </a:xfrm>
          <a:prstGeom prst="roundRect">
            <a:avLst>
              <a:gd fmla="val 13636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10783937" y="4759523"/>
            <a:ext cx="209550" cy="285750"/>
          </a:xfrm>
          <a:prstGeom prst="roundRect">
            <a:avLst>
              <a:gd fmla="val 13636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0" name="Google Shape;19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2676" y="4264223"/>
            <a:ext cx="8191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VISUALIZATION 03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Japan Outpaces Western Markets in RPG Preference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609600" y="107052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Comparing unit sales (in millions) across major regional markets by top categories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838200" y="2597348"/>
            <a:ext cx="32861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NORTH AMERICA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838200" y="2778323"/>
            <a:ext cx="27241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Action (870M) and Sports (680M) command major market volume.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838200" y="3710880"/>
            <a:ext cx="32861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EUROPE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838200" y="3891855"/>
            <a:ext cx="27241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Balanced distribution across Action (520M) and Sports (370M).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838200" y="4824412"/>
            <a:ext cx="32861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JAPAN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838200" y="5005387"/>
            <a:ext cx="27241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Role-Playing games (350M) outperform all other genres locally.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8782050" y="2645002"/>
            <a:ext cx="2211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</a:t>
            </a:r>
            <a:r>
              <a:rPr b="1" lang="en-US" sz="975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North</a:t>
            </a:r>
            <a:r>
              <a:rPr b="1" i="0" lang="en-US" sz="975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America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10010775" y="2644973"/>
            <a:ext cx="895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</a:t>
            </a:r>
            <a:r>
              <a:rPr b="1" i="0" lang="en-US" sz="975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Europe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10810875" y="2644973"/>
            <a:ext cx="819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</a:t>
            </a:r>
            <a:r>
              <a:rPr b="1" i="0" lang="en-US" sz="975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Japan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4658617" y="5178623"/>
            <a:ext cx="676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Action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5965328" y="5178623"/>
            <a:ext cx="800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Platform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7395864" y="5178623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Role-Playing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9093100" y="5178623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Shooter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10485536" y="5178623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Sports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>
            <a:off x="609600" y="3045023"/>
            <a:ext cx="3505200" cy="1885950"/>
          </a:xfrm>
          <a:prstGeom prst="roundRect">
            <a:avLst>
              <a:gd fmla="val 808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343400" y="3045023"/>
            <a:ext cx="3505200" cy="1885950"/>
          </a:xfrm>
          <a:prstGeom prst="roundRect">
            <a:avLst>
              <a:gd fmla="val 808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8077200" y="3045023"/>
            <a:ext cx="3505200" cy="1885950"/>
          </a:xfrm>
          <a:prstGeom prst="roundRect">
            <a:avLst>
              <a:gd fmla="val 808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CONCLUSIONS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Analytical Takeaways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609600" y="107052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lessons derived from global software distribution trends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847725" y="3359348"/>
            <a:ext cx="37861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847725" y="3902273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Western Volume Alignment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847725" y="4216598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Action and Sports titles maintain global dominance due to high Western adoption.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4581525" y="3359348"/>
            <a:ext cx="37861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4581525" y="3902273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Hardware Cycle Drivers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4581525" y="4216598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Physical retail peaked during the 2008 console era before digital market shifts.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8315325" y="3359348"/>
            <a:ext cx="37861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8315325" y="3902273"/>
            <a:ext cx="387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Regional Tailoring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8315325" y="4216598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Japanese preferences demand specialized RPG focus compared to US and EU markets.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/>
          <p:nvPr/>
        </p:nvSpPr>
        <p:spPr>
          <a:xfrm>
            <a:off x="5867400" y="4529137"/>
            <a:ext cx="4572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2" name="Google Shape;2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2300287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9312" y="2471737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9"/>
          <p:cNvSpPr txBox="1"/>
          <p:nvPr/>
        </p:nvSpPr>
        <p:spPr>
          <a:xfrm>
            <a:off x="4414539" y="3138487"/>
            <a:ext cx="336292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4637484" y="3957637"/>
            <a:ext cx="291703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 &amp; Discussion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